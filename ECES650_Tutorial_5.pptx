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1E3FFC-7BF1-4FF6-8275-06EB550A5F96}">
  <a:tblStyle styleId="{5F1E3FFC-7BF1-4FF6-8275-06EB550A5F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4.xml"/><Relationship Id="rId41" Type="http://schemas.openxmlformats.org/officeDocument/2006/relationships/font" Target="fonts/La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aleway-bold.fntdata"/><Relationship Id="rId12" Type="http://schemas.openxmlformats.org/officeDocument/2006/relationships/slide" Target="slides/slide6.xml"/><Relationship Id="rId34" Type="http://schemas.openxmlformats.org/officeDocument/2006/relationships/font" Target="fonts/Raleway-regular.fntdata"/><Relationship Id="rId15" Type="http://schemas.openxmlformats.org/officeDocument/2006/relationships/slide" Target="slides/slide9.xml"/><Relationship Id="rId37" Type="http://schemas.openxmlformats.org/officeDocument/2006/relationships/font" Target="fonts/Raleway-boldItalic.fntdata"/><Relationship Id="rId14" Type="http://schemas.openxmlformats.org/officeDocument/2006/relationships/slide" Target="slides/slide8.xml"/><Relationship Id="rId36" Type="http://schemas.openxmlformats.org/officeDocument/2006/relationships/font" Target="fonts/Raleway-italic.fntdata"/><Relationship Id="rId17" Type="http://schemas.openxmlformats.org/officeDocument/2006/relationships/slide" Target="slides/slide11.xml"/><Relationship Id="rId39" Type="http://schemas.openxmlformats.org/officeDocument/2006/relationships/font" Target="fonts/Lato-bold.fntdata"/><Relationship Id="rId16" Type="http://schemas.openxmlformats.org/officeDocument/2006/relationships/slide" Target="slides/slide10.xml"/><Relationship Id="rId38" Type="http://schemas.openxmlformats.org/officeDocument/2006/relationships/font" Target="fonts/La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877c2d5e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877c2d5e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8a36c96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8a36c96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4f7adc96a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4f7adc96a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4f7adc96a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4f7adc96a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4f7adc96a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d4f7adc96a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4f7adc96a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4f7adc96a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d4f7adc96a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d4f7adc96a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4f7adc96a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4f7adc96a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4f7adc96a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d4f7adc96a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8a36c963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8a36c963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d4f7adc9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d4f7adc9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d4f7adc96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d4f7adc96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4f7adc96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4f7adc96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d4f7adc96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d4f7adc96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d4f7adc96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d4f7adc96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d4f7adc96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d4f7adc96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d8a36c963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d8a36c963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d4f7adc96a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d4f7adc96a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4f7adc96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4f7adc96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Similarity definitions - Adjustable similarity threshold applied on reads based on the # of identical words in both the database and query sequences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d4f7adc96a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d4f7adc96a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1st Phase: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extremely frequent words the set of database sequences is represented by a bitmap, otherwise the set is stored as a list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2nd Phase: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(If two sequences have the same # of words in common the shortest sequence is considered first)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(Alignment is done using multi-threaded and vectorized full dynamic programming algorithm adapted from SWIPE (Rogness, 2011))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d4f7adc96a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d4f7adc96a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4f7adc96a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d4f7adc96a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USEARCH 7 is faster than USEARCH 8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d4f7adc96a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d4f7adc96a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to Search the RFAM Database: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998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USEARCH version 7: avg 5 min 29 s for the search</a:t>
            </a:r>
            <a:endParaRPr sz="1200">
              <a:solidFill>
                <a:srgbClr val="1A998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998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USEARCH version 8: avg 5 min 57 s for the search</a:t>
            </a:r>
            <a:endParaRPr sz="1200">
              <a:solidFill>
                <a:srgbClr val="1A998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A998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VSEARCH: avg 5 min 26 s for the search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d4f7adc96a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d4f7adc96a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d4f7adc96a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d4f7adc96a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d4f7adc96a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d4f7adc96a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tp.ncbi.nlm.nih.gov/pub/tatusov/dust/version1/src/dust.c" TargetMode="External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OTUs using U/VSEARCH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</a:t>
            </a:r>
            <a:r>
              <a:rPr lang="en"/>
              <a:t>Jonathan </a:t>
            </a:r>
            <a:r>
              <a:rPr lang="en"/>
              <a:t>Palko and Thomas Coard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USEARCH</a:t>
            </a:r>
            <a:endParaRPr sz="234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17606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“Extreme high-throughput sequence analysis. Orders of magnitude faster than BLAST.” [4]</a:t>
            </a:r>
            <a:br>
              <a:rPr lang="en" sz="1500"/>
            </a:b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Usearch includes many utilities that are useful for analyzing read information.</a:t>
            </a:r>
            <a:br>
              <a:rPr lang="en" sz="1500"/>
            </a:br>
            <a:br>
              <a:rPr lang="en" sz="1500"/>
            </a:br>
            <a:r>
              <a:rPr lang="en" sz="1500"/>
              <a:t>The code is not open source and is mostly written by one person, Robert Edgar.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USEARCH Sequence Analysis Pipeline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7650" y="578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</a:t>
            </a:r>
            <a:r>
              <a:rPr lang="en"/>
              <a:t>FASTQ Format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output from the sequencing machines [5].</a:t>
            </a:r>
            <a:br>
              <a:rPr lang="en"/>
            </a:br>
            <a:r>
              <a:rPr lang="en"/>
              <a:t>A FASTQ file normally uses four lines per sequence.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Line 1 begins with a '@' character and is followed by a sequence identifier and an optional description (like a FASTA title line).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Line 2 is the raw sequence letters.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Line 3 begins with a '+' character and is optionally followed by the same sequence identifier (and any description) again.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Line 4 encodes the quality values for the sequence in Line 2, and must contain the same number of symbols as letters in the sequence.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25" y="3611476"/>
            <a:ext cx="7740350" cy="9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7650" y="592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DNA Strands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7650" y="1819850"/>
            <a:ext cx="5196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Dna is made of two strands that are connected by nucleic acids.</a:t>
            </a:r>
            <a:br>
              <a:rPr lang="en" sz="1400"/>
            </a:br>
            <a:br>
              <a:rPr lang="en" sz="1400"/>
            </a:br>
            <a:r>
              <a:rPr b="1" lang="en" sz="1400"/>
              <a:t>A</a:t>
            </a:r>
            <a:r>
              <a:rPr lang="en" sz="1400"/>
              <a:t>denine and </a:t>
            </a:r>
            <a:r>
              <a:rPr b="1" lang="en" sz="1400"/>
              <a:t>T</a:t>
            </a:r>
            <a:r>
              <a:rPr lang="en" sz="1400"/>
              <a:t>hymine pair together.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C</a:t>
            </a:r>
            <a:r>
              <a:rPr lang="en" sz="1400"/>
              <a:t>ytosine and </a:t>
            </a:r>
            <a:r>
              <a:rPr b="1" lang="en" sz="1400"/>
              <a:t>G</a:t>
            </a:r>
            <a:r>
              <a:rPr lang="en" sz="1400"/>
              <a:t>uanine pair together.</a:t>
            </a:r>
            <a:br>
              <a:rPr lang="en" sz="1400"/>
            </a:br>
            <a:br>
              <a:rPr lang="en" sz="1400"/>
            </a:br>
            <a:r>
              <a:rPr lang="en" sz="1400"/>
              <a:t>The strands are sequenced individually and are read in opposite directions.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0450" y="1971175"/>
            <a:ext cx="28575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 rot="-5400000">
            <a:off x="7581925" y="3169375"/>
            <a:ext cx="1752600" cy="23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 rot="5400000">
            <a:off x="5323150" y="3169375"/>
            <a:ext cx="1752600" cy="23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556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Pairs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5211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command will match all of the positive strand reads in the R1 files with the negative strand reads in the R2 files.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In the example on the right, AGTC would pair with GACT.</a:t>
            </a:r>
            <a:br>
              <a:rPr lang="en" sz="1400"/>
            </a:br>
            <a:br>
              <a:rPr lang="en" sz="1400"/>
            </a:br>
            <a:br>
              <a:rPr lang="en" sz="1400"/>
            </a:br>
            <a:r>
              <a:rPr lang="en" sz="1400"/>
              <a:t>The output would be a new fastq that has the reads combined and averaged quality data for the read.</a:t>
            </a:r>
            <a:endParaRPr sz="1400"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00" y="1493325"/>
            <a:ext cx="8839201" cy="27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450" y="1971175"/>
            <a:ext cx="28575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 rot="-5400000">
            <a:off x="7581925" y="3169375"/>
            <a:ext cx="1752600" cy="23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 rot="5400000">
            <a:off x="5323150" y="3169375"/>
            <a:ext cx="1752600" cy="23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9450" y="564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Discard Low Quality Reads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9450" y="1778400"/>
            <a:ext cx="7688700" cy="24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command calculates the expected number of errors in the read and throws out any that are expected to have one or more error.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The output of this is a FASTA formatted file, which has a very similar format to FASTQ files, except FASTA files do not have read quality information.</a:t>
            </a:r>
            <a:br>
              <a:rPr lang="en" sz="1400"/>
            </a:br>
            <a:br>
              <a:rPr lang="en" sz="1400"/>
            </a:br>
            <a:r>
              <a:rPr lang="en" sz="1400"/>
              <a:t>Example:</a:t>
            </a:r>
            <a:endParaRPr sz="1400"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187" y="1369137"/>
            <a:ext cx="8711626" cy="2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775" y="3966675"/>
            <a:ext cx="8580451" cy="109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Combine Unique Reads</a:t>
            </a:r>
            <a:endParaRPr sz="2340"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This command removes all duplicate reads and adds the total number of duplicate reads to the read header.</a:t>
            </a:r>
            <a:br>
              <a:rPr lang="en" sz="1400"/>
            </a:br>
            <a:br>
              <a:rPr lang="en" sz="1400"/>
            </a:br>
            <a:br>
              <a:rPr lang="en" sz="1400"/>
            </a:br>
            <a:r>
              <a:rPr lang="en" sz="1400"/>
              <a:t>Example output sequence:</a:t>
            </a:r>
            <a:endParaRPr sz="1400"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562" y="1522902"/>
            <a:ext cx="8794875" cy="288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713" y="3594950"/>
            <a:ext cx="8754174" cy="11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Clustering OTUs</a:t>
            </a:r>
            <a:endParaRPr sz="2340"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729450" y="2078875"/>
            <a:ext cx="3941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command clusters the reads into OTUs with ≥97% sequence similarity. 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400"/>
            </a:br>
            <a:r>
              <a:rPr lang="en" sz="1400"/>
              <a:t>When choosing OTU sequences, USEARCH’s clustering algorithm takes into account the abundance of the sequence.</a:t>
            </a:r>
            <a:endParaRPr sz="1400"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825" y="1425925"/>
            <a:ext cx="7477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250" y="1854550"/>
            <a:ext cx="403860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OTU Table</a:t>
            </a:r>
            <a:endParaRPr sz="2340"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727650" y="2521325"/>
            <a:ext cx="6801900" cy="18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This command generates an OTU table.</a:t>
            </a:r>
            <a:br>
              <a:rPr lang="en" sz="1400"/>
            </a:br>
            <a:r>
              <a:rPr lang="en" sz="1400"/>
              <a:t>The Y axis is the OTUs generated and the X axis is the samples sequenced.</a:t>
            </a:r>
            <a:endParaRPr sz="1400"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00" y="3870675"/>
            <a:ext cx="8900425" cy="102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025" y="1720450"/>
            <a:ext cx="8839199" cy="295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USEARCH </a:t>
            </a:r>
            <a:r>
              <a:rPr lang="en"/>
              <a:t>Exercises/Examples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USEARCH Exercise 1</a:t>
            </a:r>
            <a:endParaRPr sz="2340"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729450" y="1938275"/>
            <a:ext cx="7400700" cy="27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 the </a:t>
            </a:r>
            <a:r>
              <a:rPr lang="en" sz="1500"/>
              <a:t>sintax command to predict taxonomy for OTU sequences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00" y="2530800"/>
            <a:ext cx="6545209" cy="5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4012" y="3198425"/>
            <a:ext cx="3475975" cy="16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721225" y="542675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USEARCH Exercise 2</a:t>
            </a:r>
            <a:endParaRPr sz="2300"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721225" y="1924175"/>
            <a:ext cx="3300900" cy="27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Uses the alpha_div command to calculate richness and Shannon metrics 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Uses base 2 (bits) for Shannon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What is richness and Shannon diversity of mock sample?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Richness: 30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Shannon metric: 4.01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988" y="1603750"/>
            <a:ext cx="6666033" cy="23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000" y="2351425"/>
            <a:ext cx="3448050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721225" y="52790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USEARCH Exercise 3</a:t>
            </a:r>
            <a:endParaRPr sz="2300"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721225" y="1953800"/>
            <a:ext cx="7657800" cy="27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Uses the otutab_norm command to normalize all the samples to 5000 reads and calculate the richness and Shannon diversity on the now normalized OTU table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Besides rounding errors, this should not change our output because normalizing doesn't change whether an OTU is present (richness) or its frequency (Shannon).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13" y="3986650"/>
            <a:ext cx="8010226" cy="58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721225" y="550075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USEARCH Exercise 4</a:t>
            </a:r>
            <a:endParaRPr sz="2300"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721225" y="1656125"/>
            <a:ext cx="8252400" cy="18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500"/>
              <a:t>Uses the otus.uparseref file in misop/out_mock directory</a:t>
            </a:r>
            <a:endParaRPr sz="1500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300"/>
              <a:t>Which OTU </a:t>
            </a:r>
            <a:r>
              <a:rPr lang="en" sz="1300" u="sng"/>
              <a:t>doesn’t</a:t>
            </a:r>
            <a:r>
              <a:rPr lang="en" sz="1300"/>
              <a:t> match a reference sequence from the mock community?</a:t>
            </a:r>
            <a:endParaRPr sz="13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500"/>
              <a:t>Make a FASTA file with this non matching sequence 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500"/>
              <a:t>Use the usearch_gloabl command to find the same sequence in the OTU file for all samples combined (out/otus.fa)</a:t>
            </a:r>
            <a:endParaRPr sz="1500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300"/>
              <a:t>Which is the corresponding OTU?</a:t>
            </a:r>
            <a:endParaRPr sz="1300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300"/>
              <a:t>Why is this unexpected sequence </a:t>
            </a:r>
            <a:r>
              <a:rPr lang="en" sz="1300"/>
              <a:t>found</a:t>
            </a:r>
            <a:r>
              <a:rPr lang="en" sz="1300"/>
              <a:t> in reads for the mock sample</a:t>
            </a:r>
            <a:r>
              <a:rPr lang="en" sz="1300"/>
              <a:t>?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Otu20 in out_mock/otus.fa is identical to Otu107 in out/otus.fa, likely due to cross-talk or a contaminant.</a:t>
            </a:r>
            <a:endParaRPr sz="1300"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00" y="3566874"/>
            <a:ext cx="8148474" cy="121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721225" y="542675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USEARCH Exercise 5</a:t>
            </a:r>
            <a:endParaRPr sz="2300"/>
          </a:p>
        </p:txBody>
      </p:sp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721225" y="1543925"/>
            <a:ext cx="3300900" cy="29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Runs the OTU sequence from Exercise 4 using NCBI BLAST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Which species (singular or plural) have BLAST hits with 100% identity?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We find 100% matches with many species in the </a:t>
            </a:r>
            <a:r>
              <a:rPr lang="en" sz="1500"/>
              <a:t>Pseudomonas genus. We found many more than when the tutorial was </a:t>
            </a:r>
            <a:r>
              <a:rPr lang="en" sz="1500"/>
              <a:t>originally</a:t>
            </a:r>
            <a:r>
              <a:rPr lang="en" sz="1500"/>
              <a:t> written.</a:t>
            </a:r>
            <a:endParaRPr sz="1500"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325" y="1402575"/>
            <a:ext cx="4817076" cy="3057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721225" y="548975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USEARCH Exercise 6</a:t>
            </a:r>
            <a:endParaRPr sz="2300"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721225" y="2027800"/>
            <a:ext cx="3300900" cy="27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Uses the sintax_summary command for phylum ranking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Which is the most common phylum in the OTUs?</a:t>
            </a:r>
            <a:endParaRPr sz="1300"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800" y="2027800"/>
            <a:ext cx="4817074" cy="2304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VSEARCH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VSEARCH Overview</a:t>
            </a:r>
            <a:endParaRPr sz="2340"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727650" y="1324725"/>
            <a:ext cx="8130900" cy="3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Free, 64-bit </a:t>
            </a:r>
            <a:r>
              <a:rPr lang="en" u="sng"/>
              <a:t>open-source</a:t>
            </a:r>
            <a:r>
              <a:rPr lang="en"/>
              <a:t> </a:t>
            </a:r>
            <a:r>
              <a:rPr lang="en"/>
              <a:t>multithreaded sequence analysis tool</a:t>
            </a:r>
            <a:endParaRPr/>
          </a:p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Meant to be an alternative to USEARCH</a:t>
            </a:r>
            <a:r>
              <a:rPr lang="en"/>
              <a:t> (</a:t>
            </a:r>
            <a:r>
              <a:rPr lang="en"/>
              <a:t>which is </a:t>
            </a:r>
            <a:r>
              <a:rPr lang="en" u="sng"/>
              <a:t>proprietary</a:t>
            </a:r>
            <a:r>
              <a:rPr lang="en"/>
              <a:t>)</a:t>
            </a:r>
            <a:endParaRPr/>
          </a:p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Functionality of VSEARCH is similar to USEARCH versions 7 and 8 in addition to unique functions</a:t>
            </a:r>
            <a:endParaRPr/>
          </a:p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This includes the following:</a:t>
            </a:r>
            <a:endParaRPr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Searching based on exact or global alignment</a:t>
            </a:r>
            <a:endParaRPr sz="1200"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Clustering by similarity (using length pre-sorting, abundance pre-sorting or user-defined order)</a:t>
            </a:r>
            <a:endParaRPr sz="1200"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Chimera detection (referenced-based or de novo)</a:t>
            </a:r>
            <a:endParaRPr sz="1200"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Dereplication (full length or prefix)</a:t>
            </a:r>
            <a:endParaRPr sz="1200"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Pairwise alignment</a:t>
            </a:r>
            <a:endParaRPr sz="1200"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Reverse complementation</a:t>
            </a:r>
            <a:endParaRPr sz="1200"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Sorting</a:t>
            </a:r>
            <a:endParaRPr sz="1200"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000"/>
              <a:buChar char="-"/>
            </a:pPr>
            <a:r>
              <a:rPr lang="en" sz="1200"/>
              <a:t>Subsampling</a:t>
            </a:r>
            <a:endParaRPr sz="1200"/>
          </a:p>
          <a:p>
            <a:pPr indent="-29210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SzPts val="1000"/>
              <a:buChar char="-"/>
            </a:pPr>
            <a:r>
              <a:rPr lang="en" sz="1200"/>
              <a:t>FASTQ file processing (format detection, filtering, read quality statistics, and merging of paired reads)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Unique </a:t>
            </a:r>
            <a:r>
              <a:rPr lang="en" sz="2340"/>
              <a:t>VSEARCH Features</a:t>
            </a:r>
            <a:endParaRPr sz="2340"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727650" y="1324725"/>
            <a:ext cx="5007900" cy="3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VSEARCH has the following unique functions and features:</a:t>
            </a:r>
            <a:endParaRPr/>
          </a:p>
          <a:p>
            <a:pPr indent="-304800" lvl="1" marL="914400" rtl="0" algn="l">
              <a:spcBef>
                <a:spcPts val="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Shuffling</a:t>
            </a:r>
            <a:endParaRPr sz="1200"/>
          </a:p>
          <a:p>
            <a:pPr indent="-304800" lvl="1" marL="914400" rtl="0" algn="l">
              <a:spcBef>
                <a:spcPts val="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Re-replication</a:t>
            </a:r>
            <a:endParaRPr sz="1200"/>
          </a:p>
          <a:p>
            <a:pPr indent="-304800" lvl="1" marL="914400" rtl="0" algn="l">
              <a:spcBef>
                <a:spcPts val="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Masking of low-complexity sequences with the DUST algorithm (by Tatusov and Lipman)</a:t>
            </a:r>
            <a:endParaRPr sz="1200"/>
          </a:p>
          <a:p>
            <a:pPr indent="-304800" lvl="2" marL="1371600" rtl="0" algn="l">
              <a:spcBef>
                <a:spcPts val="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DUST algorithm focuses on masking of simple repeats and low-complexity </a:t>
            </a:r>
            <a:r>
              <a:rPr lang="en" sz="1200"/>
              <a:t>nucleotide</a:t>
            </a:r>
            <a:r>
              <a:rPr lang="en" sz="1200"/>
              <a:t> sequences</a:t>
            </a:r>
            <a:endParaRPr sz="1200"/>
          </a:p>
          <a:p>
            <a:pPr indent="-304800" lvl="2" marL="1371600" rtl="0" algn="l">
              <a:spcBef>
                <a:spcPts val="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Full Code Algorithm: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https://ftp.ncbi.nlm.nih.gov/pub/tatusov/dust/version1/src/dust.c</a:t>
            </a:r>
            <a:r>
              <a:rPr lang="en" sz="1200"/>
              <a:t> </a:t>
            </a:r>
            <a:endParaRPr sz="1200"/>
          </a:p>
          <a:p>
            <a:pPr indent="-304800" lvl="1" marL="914400" rtl="0" algn="l">
              <a:spcBef>
                <a:spcPts val="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Ability to choose among different similarity definitions</a:t>
            </a:r>
            <a:endParaRPr b="1" sz="1200"/>
          </a:p>
          <a:p>
            <a:pPr indent="-304800" lvl="1" marL="914400" rtl="0" algn="l">
              <a:spcBef>
                <a:spcPts val="2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FASTQ file format conversion</a:t>
            </a:r>
            <a:endParaRPr sz="1200"/>
          </a:p>
          <a:p>
            <a:pPr indent="-311150" lvl="0" marL="457200" rtl="0" algn="l">
              <a:spcBef>
                <a:spcPts val="200"/>
              </a:spcBef>
              <a:spcAft>
                <a:spcPts val="200"/>
              </a:spcAft>
              <a:buSzPts val="1300"/>
              <a:buChar char="-"/>
            </a:pPr>
            <a:r>
              <a:rPr lang="en"/>
              <a:t>Uses pairwise alignments computed in parallel via vectorization over multiple threads</a:t>
            </a:r>
            <a:endParaRPr/>
          </a:p>
        </p:txBody>
      </p:sp>
      <p:pic>
        <p:nvPicPr>
          <p:cNvPr id="223" name="Google Shape;2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5550" y="1193975"/>
            <a:ext cx="3103650" cy="3262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VSEARCH Searching Process</a:t>
            </a:r>
            <a:endParaRPr sz="2340"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727650" y="1279925"/>
            <a:ext cx="7688700" cy="3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-"/>
            </a:pPr>
            <a:r>
              <a:rPr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VSEARCH’s Searching Process Has Two Phases: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1st Phase: Initial heuristic filtering based on shared words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2" marL="1371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an index of 4</a:t>
            </a:r>
            <a:r>
              <a:rPr baseline="30000" lang="en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possible distinct words, and stores the info about which database sequences each distinct word appears in (k is the number of consecutive nucleotides of a sequence, which is set to 8 by default) 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87916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2nd Phase: Optimal alignment of the query with the most promising candidates 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2" marL="1371600" rtl="0" algn="l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Considers the database sequences starting with the sequence that has the largest # of words in common with the query sequence 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2" marL="1371600" rtl="0" algn="l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Comparison between the query sequence and database sequence is done by computing the optimal global alignment (Needleman &amp; Wunsch algorithm)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2" marL="1371600" rtl="0" algn="l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optimal alignment has </a:t>
            </a:r>
            <a:r>
              <a:rPr lang="en" sz="13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HUGE</a:t>
            </a: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memory requirements when aligning long sequences (&gt;5000 base pairs)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3" marL="1828800" rtl="0" algn="l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two sequences have a product of their length greater </a:t>
            </a: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 20 million than an alternative method described by Hirschberg (1975) and Myers &amp; Miller (1988) is used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4" marL="2286000" rtl="0" algn="l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alternative methods is </a:t>
            </a:r>
            <a:r>
              <a:rPr lang="en" sz="13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MUCH SLOWER</a:t>
            </a: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but only uses a linear amount of memory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b="1"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Computing the optimal pairwise alignment is each case is more computationally demanding but will provide more accurate results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VSEARCH Clustering</a:t>
            </a:r>
            <a:endParaRPr sz="2340"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727650" y="1280325"/>
            <a:ext cx="7688700" cy="3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VSEARCH performs </a:t>
            </a:r>
            <a:r>
              <a:rPr i="1"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novo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clustering using greedy and heuristic centroid based algorithms with an adjustable sequence similarity threshold (which is specified with the </a:t>
            </a:r>
            <a:r>
              <a:rPr i="1"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option)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input sequences are used as a query in a search against an initially empty database of centroid sequences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2" marL="13716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input sequences may be processed in any of the following orders: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3" marL="18288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Processed in user supplied order </a:t>
            </a:r>
            <a:r>
              <a:rPr i="1"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(cluster_smallmem)</a:t>
            </a:r>
            <a:endParaRPr i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3" marL="18288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Processed after being pre-sorted based on length </a:t>
            </a:r>
            <a:r>
              <a:rPr i="1"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(cluster_fast)</a:t>
            </a:r>
            <a:endParaRPr i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3" marL="18288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Processed after being pre-sorted based on abundance </a:t>
            </a:r>
            <a:r>
              <a:rPr i="1"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(cluster_size)</a:t>
            </a:r>
            <a:endParaRPr i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input query sequence is clustered with the 1st centroid sequence found with similarity equal to or above the threshold (includes the sequence searching described previously)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2" marL="13716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b="1"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no matches are found, the query sequence becomes the centroid of a new cluster and is added to the database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b="1"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 default the query is clustered with the centroid presenting the highest sequence similarly (distance-based greedy clustering, DGC)</a:t>
            </a:r>
            <a:endParaRPr b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2" marL="13716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-"/>
            </a:pP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i="1"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sizeorder</a:t>
            </a:r>
            <a:r>
              <a:rPr lang="en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option is ON then the centroid with the highest abundance is used (abundance-based greedy clustering)</a:t>
            </a:r>
            <a:endParaRPr sz="1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35"/>
          <p:cNvGraphicFramePr/>
          <p:nvPr/>
        </p:nvGraphicFramePr>
        <p:xfrm>
          <a:off x="590300" y="126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{5F1E3FFC-7BF1-4FF6-8275-06EB550A5F96}</a:tableStyleId>
              </a:tblPr>
              <a:tblGrid>
                <a:gridCol w="3936850"/>
                <a:gridCol w="415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USEARCH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VSEARCH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Free 32-bit, max 4 Gb RAM version available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Free 64-bit, no maximum RAM version available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Only offers single-thread support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Supports multi-threading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Faster when performing chimera </a:t>
                      </a:r>
                      <a:r>
                        <a:rPr lang="en"/>
                        <a:t>detection</a:t>
                      </a:r>
                      <a:r>
                        <a:rPr lang="en"/>
                        <a:t> and clustering (see graphs)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accurate when performing some chimera </a:t>
                      </a:r>
                      <a:r>
                        <a:rPr lang="en"/>
                        <a:t>detection and clustering (see graphs)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USEACH and VSEARCH have similar searching and subsampling speeds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accurate when performing some searching and subsampling (see graphs)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About the same accuracy as VSEARCH when dealing with paired-ends read merging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About the same accuracy as USEARCH when dealing with paired-ends read merging, but with </a:t>
                      </a:r>
                      <a:r>
                        <a:rPr lang="en" u="sng"/>
                        <a:t>faster</a:t>
                      </a:r>
                      <a:r>
                        <a:rPr lang="en"/>
                        <a:t> speed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Ineffective dereplication for shorter sequences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40-50% faster when performing de-replication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1" name="Google Shape;241;p35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USEARCH and VSEARCH Comparison</a:t>
            </a:r>
            <a:endParaRPr sz="234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USEARCH and VSEARCH Search Comparison</a:t>
            </a:r>
            <a:endParaRPr sz="2340"/>
          </a:p>
        </p:txBody>
      </p:sp>
      <p:pic>
        <p:nvPicPr>
          <p:cNvPr id="247" name="Google Shape;2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1725" y="1295500"/>
            <a:ext cx="4234150" cy="315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/>
          <p:cNvSpPr txBox="1"/>
          <p:nvPr/>
        </p:nvSpPr>
        <p:spPr>
          <a:xfrm>
            <a:off x="2773650" y="4455225"/>
            <a:ext cx="359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Search accuracy on the RFAM v11 dataset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 [2] 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USEARCH and VSEARCH Clustering Comparison</a:t>
            </a:r>
            <a:endParaRPr sz="2340"/>
          </a:p>
        </p:txBody>
      </p:sp>
      <p:sp>
        <p:nvSpPr>
          <p:cNvPr id="254" name="Google Shape;254;p37"/>
          <p:cNvSpPr txBox="1"/>
          <p:nvPr/>
        </p:nvSpPr>
        <p:spPr>
          <a:xfrm>
            <a:off x="1217175" y="4710450"/>
            <a:ext cx="707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Clustering accuracy using abundance sorting (A, C, E) and using length sorting (B, D, F)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[2] 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5" name="Google Shape;25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275" y="1106375"/>
            <a:ext cx="4813450" cy="36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USEARCH and VSEARCH Clustering Comparison</a:t>
            </a:r>
            <a:endParaRPr sz="2340"/>
          </a:p>
        </p:txBody>
      </p:sp>
      <p:sp>
        <p:nvSpPr>
          <p:cNvPr id="261" name="Google Shape;261;p38"/>
          <p:cNvSpPr txBox="1"/>
          <p:nvPr/>
        </p:nvSpPr>
        <p:spPr>
          <a:xfrm>
            <a:off x="1988475" y="4712475"/>
            <a:ext cx="52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Clustering median time for even and uneven on the even dataset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 [2] 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2" name="Google Shape;2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688" y="1106375"/>
            <a:ext cx="3592626" cy="36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type="title"/>
          </p:nvPr>
        </p:nvSpPr>
        <p:spPr>
          <a:xfrm>
            <a:off x="727650" y="57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References</a:t>
            </a:r>
            <a:endParaRPr sz="2340"/>
          </a:p>
        </p:txBody>
      </p:sp>
      <p:sp>
        <p:nvSpPr>
          <p:cNvPr id="268" name="Google Shape;268;p39"/>
          <p:cNvSpPr txBox="1"/>
          <p:nvPr>
            <p:ph idx="1" type="body"/>
          </p:nvPr>
        </p:nvSpPr>
        <p:spPr>
          <a:xfrm>
            <a:off x="727650" y="1324725"/>
            <a:ext cx="7688700" cy="3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[1] </a:t>
            </a:r>
            <a:r>
              <a:rPr lang="en" sz="900"/>
              <a:t>https://www.researchgate.net/figure/Flow-chart-of-the-dust-detection-algorithm-The-number-associated-with-each-dust-test_fig2_216791182</a:t>
            </a:r>
            <a:endParaRPr sz="9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/>
              <a:t>[2] </a:t>
            </a:r>
            <a:r>
              <a:rPr lang="en" sz="900"/>
              <a:t>https://www.ncbi.nlm.nih.gov/pmc/articles/PMC5075697/</a:t>
            </a:r>
            <a:endParaRPr sz="9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/>
              <a:t>[3] https://ftp.ncbi.nlm.nih.gov/pub/tatusov/dust/version1/src/</a:t>
            </a:r>
            <a:endParaRPr sz="9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/>
              <a:t>[4] https://drive5.com/usearch</a:t>
            </a:r>
            <a:r>
              <a:rPr lang="en" sz="900"/>
              <a:t>/</a:t>
            </a:r>
            <a:endParaRPr sz="9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/>
              <a:t>[5] https://en.wikipedia.org/wiki/FASTQ_format</a:t>
            </a:r>
            <a:endParaRPr sz="900"/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900"/>
              <a:t>[6] https://en.wikipedia.org/wiki/Needleman%E2%80%93Wunsch_algorithm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